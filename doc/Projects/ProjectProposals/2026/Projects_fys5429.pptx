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9A2134-13D4-44FC-A9B0-AF5FE46E1645}" v="1" dt="2026-01-29T09:54:23.2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56" d="100"/>
          <a:sy n="56" d="100"/>
        </p:scale>
        <p:origin x="73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ximilian Engenes" userId="d858eaadfe6c951a" providerId="LiveId" clId="{719A2134-13D4-44FC-A9B0-AF5FE46E1645}"/>
    <pc:docChg chg="custSel modSld">
      <pc:chgData name="Maximilian Engenes" userId="d858eaadfe6c951a" providerId="LiveId" clId="{719A2134-13D4-44FC-A9B0-AF5FE46E1645}" dt="2026-01-29T09:57:01.484" v="172" actId="20577"/>
      <pc:docMkLst>
        <pc:docMk/>
      </pc:docMkLst>
      <pc:sldChg chg="modSp mod">
        <pc:chgData name="Maximilian Engenes" userId="d858eaadfe6c951a" providerId="LiveId" clId="{719A2134-13D4-44FC-A9B0-AF5FE46E1645}" dt="2026-01-29T09:57:01.484" v="172" actId="20577"/>
        <pc:sldMkLst>
          <pc:docMk/>
          <pc:sldMk cId="2857972169" sldId="258"/>
        </pc:sldMkLst>
        <pc:spChg chg="mod">
          <ac:chgData name="Maximilian Engenes" userId="d858eaadfe6c951a" providerId="LiveId" clId="{719A2134-13D4-44FC-A9B0-AF5FE46E1645}" dt="2026-01-29T09:57:01.484" v="172" actId="20577"/>
          <ac:spMkLst>
            <pc:docMk/>
            <pc:sldMk cId="2857972169" sldId="258"/>
            <ac:spMk id="3" creationId="{112AE49F-CEDD-B383-B59F-C596E32BCB97}"/>
          </ac:spMkLst>
        </pc:spChg>
        <pc:picChg chg="mod">
          <ac:chgData name="Maximilian Engenes" userId="d858eaadfe6c951a" providerId="LiveId" clId="{719A2134-13D4-44FC-A9B0-AF5FE46E1645}" dt="2026-01-29T09:54:23.211" v="7" actId="1076"/>
          <ac:picMkLst>
            <pc:docMk/>
            <pc:sldMk cId="2857972169" sldId="258"/>
            <ac:picMk id="2050" creationId="{0D72486F-48A4-17D3-45A4-9C4F699577D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1/29/2026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4816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1/29/2026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20197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1/29/2026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9618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1/29/2026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53862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1/29/2026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525849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1/29/2026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09394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1/29/2026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1303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1/29/2026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03966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1/29/2026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91418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1/29/2026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55975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1/29/2026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3367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1/29/2026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2142274"/>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1A1512B6-66BD-4FD6-AE2F-A3BB5D7A6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81" name="Rectangle 308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8C161BC3-7378-24E8-67DF-296288E9EEF5}"/>
              </a:ext>
            </a:extLst>
          </p:cNvPr>
          <p:cNvPicPr>
            <a:picLocks noChangeAspect="1"/>
          </p:cNvPicPr>
          <p:nvPr/>
        </p:nvPicPr>
        <p:blipFill>
          <a:blip r:embed="rId2">
            <a:alphaModFix amt="40000"/>
          </a:blip>
          <a:srcRect l="33720" r="1" b="1"/>
          <a:stretch>
            <a:fillRect/>
          </a:stretch>
        </p:blipFill>
        <p:spPr>
          <a:xfrm>
            <a:off x="2" y="152"/>
            <a:ext cx="7803242" cy="6857848"/>
          </a:xfrm>
          <a:prstGeom prst="rect">
            <a:avLst/>
          </a:prstGeom>
        </p:spPr>
      </p:pic>
      <p:sp>
        <p:nvSpPr>
          <p:cNvPr id="2" name="Title 1">
            <a:extLst>
              <a:ext uri="{FF2B5EF4-FFF2-40B4-BE49-F238E27FC236}">
                <a16:creationId xmlns:a16="http://schemas.microsoft.com/office/drawing/2014/main" id="{81CE99B6-A547-B991-EDC4-47FB03152BE5}"/>
              </a:ext>
            </a:extLst>
          </p:cNvPr>
          <p:cNvSpPr>
            <a:spLocks noGrp="1"/>
          </p:cNvSpPr>
          <p:nvPr>
            <p:ph type="ctrTitle"/>
          </p:nvPr>
        </p:nvSpPr>
        <p:spPr>
          <a:xfrm>
            <a:off x="640080" y="1371599"/>
            <a:ext cx="4893811" cy="2924063"/>
          </a:xfrm>
        </p:spPr>
        <p:txBody>
          <a:bodyPr anchor="t">
            <a:normAutofit/>
          </a:bodyPr>
          <a:lstStyle/>
          <a:p>
            <a:r>
              <a:rPr lang="nb-NO" sz="6000" dirty="0">
                <a:solidFill>
                  <a:srgbClr val="FFFFFF"/>
                </a:solidFill>
              </a:rPr>
              <a:t>Project </a:t>
            </a:r>
            <a:r>
              <a:rPr lang="nb-NO" sz="6000" dirty="0" err="1">
                <a:solidFill>
                  <a:srgbClr val="FFFFFF"/>
                </a:solidFill>
              </a:rPr>
              <a:t>introduction</a:t>
            </a:r>
            <a:r>
              <a:rPr lang="nb-NO" sz="6000" dirty="0">
                <a:solidFill>
                  <a:srgbClr val="FFFFFF"/>
                </a:solidFill>
              </a:rPr>
              <a:t> for FYS5429</a:t>
            </a:r>
          </a:p>
        </p:txBody>
      </p:sp>
      <p:sp>
        <p:nvSpPr>
          <p:cNvPr id="3" name="Subtitle 2">
            <a:extLst>
              <a:ext uri="{FF2B5EF4-FFF2-40B4-BE49-F238E27FC236}">
                <a16:creationId xmlns:a16="http://schemas.microsoft.com/office/drawing/2014/main" id="{13BECD40-6808-2BC6-8D5F-28F9F906977A}"/>
              </a:ext>
            </a:extLst>
          </p:cNvPr>
          <p:cNvSpPr>
            <a:spLocks noGrp="1"/>
          </p:cNvSpPr>
          <p:nvPr>
            <p:ph type="subTitle" idx="1"/>
          </p:nvPr>
        </p:nvSpPr>
        <p:spPr>
          <a:xfrm>
            <a:off x="640080" y="4584879"/>
            <a:ext cx="4893811" cy="1287887"/>
          </a:xfrm>
        </p:spPr>
        <p:txBody>
          <a:bodyPr anchor="b">
            <a:normAutofit/>
          </a:bodyPr>
          <a:lstStyle/>
          <a:p>
            <a:r>
              <a:rPr lang="nb-NO">
                <a:solidFill>
                  <a:srgbClr val="FFFFFF"/>
                </a:solidFill>
              </a:rPr>
              <a:t>By Vaitian, Cecilie and Max</a:t>
            </a:r>
          </a:p>
        </p:txBody>
      </p:sp>
      <p:cxnSp>
        <p:nvCxnSpPr>
          <p:cNvPr id="3083" name="Straight Connector 3082">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074" name="Picture 2" descr="Fisica, CERN di Ginevra: il primo lustro del bosone di Higgs">
            <a:extLst>
              <a:ext uri="{FF2B5EF4-FFF2-40B4-BE49-F238E27FC236}">
                <a16:creationId xmlns:a16="http://schemas.microsoft.com/office/drawing/2014/main" id="{9BB07771-4223-4A81-90FC-DDD7EB1B0DCF}"/>
              </a:ext>
            </a:extLst>
          </p:cNvPr>
          <p:cNvPicPr>
            <a:picLocks noChangeAspect="1" noChangeArrowheads="1"/>
          </p:cNvPicPr>
          <p:nvPr/>
        </p:nvPicPr>
        <p:blipFill>
          <a:blip r:embed="rId3">
            <a:alphaModFix amt="40000"/>
            <a:extLst>
              <a:ext uri="{28A0092B-C50C-407E-A947-70E740481C1C}">
                <a14:useLocalDpi xmlns:a14="http://schemas.microsoft.com/office/drawing/2010/main" val="0"/>
              </a:ext>
            </a:extLst>
          </a:blip>
          <a:srcRect l="26797" r="30646"/>
          <a:stretch>
            <a:fillRect/>
          </a:stretch>
        </p:blipFill>
        <p:spPr bwMode="auto">
          <a:xfrm>
            <a:off x="7803244" y="10"/>
            <a:ext cx="4388756"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85362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D6F18-4C0E-5EF3-1314-83E2756DF93F}"/>
              </a:ext>
            </a:extLst>
          </p:cNvPr>
          <p:cNvSpPr>
            <a:spLocks noGrp="1"/>
          </p:cNvSpPr>
          <p:nvPr>
            <p:ph type="title"/>
          </p:nvPr>
        </p:nvSpPr>
        <p:spPr/>
        <p:txBody>
          <a:bodyPr/>
          <a:lstStyle/>
          <a:p>
            <a:r>
              <a:rPr lang="nb-NO" dirty="0" err="1"/>
              <a:t>Background</a:t>
            </a:r>
            <a:r>
              <a:rPr lang="nb-NO" dirty="0"/>
              <a:t> and </a:t>
            </a:r>
            <a:r>
              <a:rPr lang="nb-NO" dirty="0" err="1"/>
              <a:t>motivation</a:t>
            </a:r>
            <a:endParaRPr lang="nb-NO" dirty="0"/>
          </a:p>
        </p:txBody>
      </p:sp>
      <p:sp>
        <p:nvSpPr>
          <p:cNvPr id="3" name="Content Placeholder 2">
            <a:extLst>
              <a:ext uri="{FF2B5EF4-FFF2-40B4-BE49-F238E27FC236}">
                <a16:creationId xmlns:a16="http://schemas.microsoft.com/office/drawing/2014/main" id="{D3AD462C-C015-B308-04A2-8F12F9F964A4}"/>
              </a:ext>
            </a:extLst>
          </p:cNvPr>
          <p:cNvSpPr>
            <a:spLocks noGrp="1"/>
          </p:cNvSpPr>
          <p:nvPr>
            <p:ph idx="1"/>
          </p:nvPr>
        </p:nvSpPr>
        <p:spPr/>
        <p:txBody>
          <a:bodyPr>
            <a:normAutofit fontScale="92500" lnSpcReduction="10000"/>
          </a:bodyPr>
          <a:lstStyle/>
          <a:p>
            <a:r>
              <a:rPr lang="nb-NO" dirty="0"/>
              <a:t>3 master students </a:t>
            </a:r>
            <a:r>
              <a:rPr lang="nb-NO" dirty="0" err="1"/>
              <a:t>working</a:t>
            </a:r>
            <a:r>
              <a:rPr lang="nb-NO" dirty="0"/>
              <a:t> </a:t>
            </a:r>
            <a:r>
              <a:rPr lang="nb-NO" dirty="0" err="1"/>
              <a:t>on</a:t>
            </a:r>
            <a:r>
              <a:rPr lang="nb-NO" dirty="0"/>
              <a:t> </a:t>
            </a:r>
            <a:r>
              <a:rPr lang="nb-NO" dirty="0" err="1"/>
              <a:t>the</a:t>
            </a:r>
            <a:r>
              <a:rPr lang="nb-NO" dirty="0"/>
              <a:t> same team </a:t>
            </a:r>
            <a:r>
              <a:rPr lang="nb-NO" dirty="0" err="1"/>
              <a:t>within</a:t>
            </a:r>
            <a:r>
              <a:rPr lang="nb-NO" dirty="0"/>
              <a:t> </a:t>
            </a:r>
            <a:r>
              <a:rPr lang="nb-NO" dirty="0" err="1"/>
              <a:t>the</a:t>
            </a:r>
            <a:r>
              <a:rPr lang="nb-NO" dirty="0"/>
              <a:t> Atlas </a:t>
            </a:r>
            <a:r>
              <a:rPr lang="nb-NO" dirty="0" err="1"/>
              <a:t>group</a:t>
            </a:r>
            <a:r>
              <a:rPr lang="nb-NO" dirty="0"/>
              <a:t> at HEP</a:t>
            </a:r>
          </a:p>
          <a:p>
            <a:r>
              <a:rPr lang="nb-NO" dirty="0" err="1"/>
              <a:t>Working</a:t>
            </a:r>
            <a:r>
              <a:rPr lang="nb-NO" dirty="0"/>
              <a:t> </a:t>
            </a:r>
            <a:r>
              <a:rPr lang="nb-NO" dirty="0" err="1"/>
              <a:t>jointly</a:t>
            </a:r>
            <a:r>
              <a:rPr lang="nb-NO" dirty="0"/>
              <a:t> </a:t>
            </a:r>
            <a:r>
              <a:rPr lang="nb-NO" dirty="0" err="1"/>
              <a:t>on</a:t>
            </a:r>
            <a:r>
              <a:rPr lang="nb-NO" dirty="0"/>
              <a:t> </a:t>
            </a:r>
            <a:r>
              <a:rPr lang="nb-NO" dirty="0" err="1"/>
              <a:t>the</a:t>
            </a:r>
            <a:r>
              <a:rPr lang="nb-NO" dirty="0"/>
              <a:t> Di-</a:t>
            </a:r>
            <a:r>
              <a:rPr lang="nb-NO" dirty="0" err="1"/>
              <a:t>Higgs</a:t>
            </a:r>
            <a:r>
              <a:rPr lang="nb-NO" dirty="0"/>
              <a:t> team </a:t>
            </a:r>
          </a:p>
          <a:p>
            <a:r>
              <a:rPr lang="nb-NO" dirty="0"/>
              <a:t>Di-</a:t>
            </a:r>
            <a:r>
              <a:rPr lang="nb-NO" dirty="0" err="1"/>
              <a:t>Higgs</a:t>
            </a:r>
            <a:r>
              <a:rPr lang="nb-NO" dirty="0"/>
              <a:t> is still an </a:t>
            </a:r>
            <a:r>
              <a:rPr lang="nb-NO" dirty="0" err="1"/>
              <a:t>undiscovered</a:t>
            </a:r>
            <a:r>
              <a:rPr lang="nb-NO" dirty="0"/>
              <a:t> part </a:t>
            </a:r>
            <a:r>
              <a:rPr lang="nb-NO" dirty="0" err="1"/>
              <a:t>of</a:t>
            </a:r>
            <a:r>
              <a:rPr lang="nb-NO" dirty="0"/>
              <a:t> </a:t>
            </a:r>
            <a:r>
              <a:rPr lang="nb-NO" dirty="0" err="1"/>
              <a:t>the</a:t>
            </a:r>
            <a:r>
              <a:rPr lang="nb-NO" dirty="0"/>
              <a:t> Standard Model  </a:t>
            </a:r>
          </a:p>
          <a:p>
            <a:r>
              <a:rPr lang="nb-NO" dirty="0"/>
              <a:t>Master </a:t>
            </a:r>
            <a:r>
              <a:rPr lang="nb-NO" dirty="0" err="1"/>
              <a:t>thesis</a:t>
            </a:r>
            <a:r>
              <a:rPr lang="nb-NO" dirty="0"/>
              <a:t>:</a:t>
            </a:r>
          </a:p>
          <a:p>
            <a:r>
              <a:rPr lang="nb-NO" dirty="0"/>
              <a:t> </a:t>
            </a:r>
            <a:r>
              <a:rPr lang="nb-NO" dirty="0" err="1"/>
              <a:t>Vaitian</a:t>
            </a:r>
            <a:r>
              <a:rPr lang="nb-NO" dirty="0"/>
              <a:t> </a:t>
            </a:r>
            <a:r>
              <a:rPr lang="nb-NO" dirty="0" err="1"/>
              <a:t>will</a:t>
            </a:r>
            <a:r>
              <a:rPr lang="nb-NO" dirty="0"/>
              <a:t> </a:t>
            </a:r>
            <a:r>
              <a:rPr lang="nb-NO" dirty="0" err="1"/>
              <a:t>develop</a:t>
            </a:r>
            <a:r>
              <a:rPr lang="nb-NO" dirty="0"/>
              <a:t> a </a:t>
            </a:r>
            <a:r>
              <a:rPr lang="nb-NO" dirty="0" err="1"/>
              <a:t>novel</a:t>
            </a:r>
            <a:r>
              <a:rPr lang="nb-NO" dirty="0"/>
              <a:t> ML </a:t>
            </a:r>
            <a:r>
              <a:rPr lang="nb-NO" dirty="0" err="1"/>
              <a:t>architecture</a:t>
            </a:r>
            <a:r>
              <a:rPr lang="nb-NO" dirty="0"/>
              <a:t> for Di-</a:t>
            </a:r>
            <a:r>
              <a:rPr lang="nb-NO" dirty="0" err="1"/>
              <a:t>Higgs</a:t>
            </a:r>
            <a:r>
              <a:rPr lang="nb-NO" dirty="0"/>
              <a:t> </a:t>
            </a:r>
            <a:r>
              <a:rPr lang="nb-NO" dirty="0" err="1"/>
              <a:t>search</a:t>
            </a:r>
            <a:endParaRPr lang="nb-NO" dirty="0"/>
          </a:p>
          <a:p>
            <a:r>
              <a:rPr lang="nb-NO" dirty="0"/>
              <a:t>Max </a:t>
            </a:r>
            <a:r>
              <a:rPr lang="nb-NO" dirty="0" err="1"/>
              <a:t>will</a:t>
            </a:r>
            <a:r>
              <a:rPr lang="nb-NO" dirty="0"/>
              <a:t> </a:t>
            </a:r>
            <a:r>
              <a:rPr lang="nb-NO" dirty="0" err="1"/>
              <a:t>use</a:t>
            </a:r>
            <a:r>
              <a:rPr lang="nb-NO" dirty="0"/>
              <a:t> </a:t>
            </a:r>
            <a:r>
              <a:rPr lang="nb-NO" dirty="0" err="1"/>
              <a:t>this</a:t>
            </a:r>
            <a:r>
              <a:rPr lang="nb-NO" dirty="0"/>
              <a:t> </a:t>
            </a:r>
            <a:r>
              <a:rPr lang="nb-NO" dirty="0" err="1"/>
              <a:t>novel</a:t>
            </a:r>
            <a:r>
              <a:rPr lang="nb-NO" dirty="0"/>
              <a:t> ML </a:t>
            </a:r>
            <a:r>
              <a:rPr lang="nb-NO" dirty="0" err="1"/>
              <a:t>architecture</a:t>
            </a:r>
            <a:r>
              <a:rPr lang="nb-NO" dirty="0"/>
              <a:t> to </a:t>
            </a:r>
            <a:r>
              <a:rPr lang="nb-NO" dirty="0" err="1"/>
              <a:t>analyze</a:t>
            </a:r>
            <a:r>
              <a:rPr lang="nb-NO" dirty="0"/>
              <a:t> and </a:t>
            </a:r>
            <a:r>
              <a:rPr lang="nb-NO" dirty="0" err="1"/>
              <a:t>compare</a:t>
            </a:r>
            <a:r>
              <a:rPr lang="nb-NO" dirty="0"/>
              <a:t> </a:t>
            </a:r>
            <a:r>
              <a:rPr lang="nb-NO" dirty="0" err="1"/>
              <a:t>large</a:t>
            </a:r>
            <a:r>
              <a:rPr lang="nb-NO" dirty="0"/>
              <a:t> </a:t>
            </a:r>
            <a:r>
              <a:rPr lang="nb-NO" dirty="0" err="1"/>
              <a:t>datasets</a:t>
            </a:r>
            <a:endParaRPr lang="nb-NO" dirty="0"/>
          </a:p>
          <a:p>
            <a:r>
              <a:rPr lang="nb-NO" dirty="0"/>
              <a:t>Cecilie </a:t>
            </a:r>
            <a:r>
              <a:rPr lang="nb-NO" dirty="0" err="1"/>
              <a:t>will</a:t>
            </a:r>
            <a:r>
              <a:rPr lang="nb-NO" dirty="0"/>
              <a:t> </a:t>
            </a:r>
            <a:r>
              <a:rPr lang="nb-NO" dirty="0" err="1"/>
              <a:t>use</a:t>
            </a:r>
            <a:r>
              <a:rPr lang="nb-NO" dirty="0"/>
              <a:t> </a:t>
            </a:r>
            <a:r>
              <a:rPr lang="nb-NO" dirty="0" err="1"/>
              <a:t>this</a:t>
            </a:r>
            <a:r>
              <a:rPr lang="nb-NO" dirty="0"/>
              <a:t> </a:t>
            </a:r>
            <a:r>
              <a:rPr lang="nb-NO" dirty="0" err="1"/>
              <a:t>processed</a:t>
            </a:r>
            <a:r>
              <a:rPr lang="nb-NO" dirty="0"/>
              <a:t> data to do High-</a:t>
            </a:r>
            <a:r>
              <a:rPr lang="nb-NO" dirty="0" err="1"/>
              <a:t>Luminosity</a:t>
            </a:r>
            <a:r>
              <a:rPr lang="nb-NO" dirty="0"/>
              <a:t> </a:t>
            </a:r>
            <a:r>
              <a:rPr lang="nb-NO" dirty="0" err="1"/>
              <a:t>projections</a:t>
            </a:r>
            <a:r>
              <a:rPr lang="nb-NO" dirty="0"/>
              <a:t> </a:t>
            </a:r>
            <a:r>
              <a:rPr lang="nb-NO" dirty="0" err="1"/>
              <a:t>into</a:t>
            </a:r>
            <a:r>
              <a:rPr lang="nb-NO" dirty="0"/>
              <a:t> </a:t>
            </a:r>
            <a:r>
              <a:rPr lang="nb-NO" dirty="0" err="1"/>
              <a:t>the</a:t>
            </a:r>
            <a:r>
              <a:rPr lang="nb-NO" dirty="0"/>
              <a:t> </a:t>
            </a:r>
            <a:r>
              <a:rPr lang="nb-NO" dirty="0" err="1"/>
              <a:t>future</a:t>
            </a:r>
            <a:endParaRPr lang="nb-NO" dirty="0"/>
          </a:p>
          <a:p>
            <a:pPr marL="0" indent="0">
              <a:buNone/>
            </a:pPr>
            <a:r>
              <a:rPr lang="nb-NO" dirty="0"/>
              <a:t>   </a:t>
            </a:r>
          </a:p>
        </p:txBody>
      </p:sp>
      <p:pic>
        <p:nvPicPr>
          <p:cNvPr id="1028" name="Picture 4" descr="39 Schools from Greece | ATLAS Experiment at CERN">
            <a:extLst>
              <a:ext uri="{FF2B5EF4-FFF2-40B4-BE49-F238E27FC236}">
                <a16:creationId xmlns:a16="http://schemas.microsoft.com/office/drawing/2014/main" id="{3520CBAE-2F21-8407-5D09-5E9141B3D1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6454" y="470264"/>
            <a:ext cx="4445466" cy="233965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he Higgs boson, as it intracts with itself | CMS Experiment">
            <a:extLst>
              <a:ext uri="{FF2B5EF4-FFF2-40B4-BE49-F238E27FC236}">
                <a16:creationId xmlns:a16="http://schemas.microsoft.com/office/drawing/2014/main" id="{DA032FD3-4B29-F995-55F7-F6F9716EDE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1859" y="2468881"/>
            <a:ext cx="2640061" cy="2205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048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4" name="Rectangle 2063">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19A1AE-277F-1654-CD24-33D936FA02DF}"/>
              </a:ext>
            </a:extLst>
          </p:cNvPr>
          <p:cNvSpPr>
            <a:spLocks noGrp="1"/>
          </p:cNvSpPr>
          <p:nvPr>
            <p:ph type="title"/>
          </p:nvPr>
        </p:nvSpPr>
        <p:spPr>
          <a:xfrm>
            <a:off x="640080" y="1371600"/>
            <a:ext cx="5737859" cy="1097280"/>
          </a:xfrm>
        </p:spPr>
        <p:txBody>
          <a:bodyPr>
            <a:normAutofit/>
          </a:bodyPr>
          <a:lstStyle/>
          <a:p>
            <a:r>
              <a:rPr lang="nb-NO" dirty="0"/>
              <a:t>Projects</a:t>
            </a:r>
          </a:p>
        </p:txBody>
      </p:sp>
      <p:cxnSp>
        <p:nvCxnSpPr>
          <p:cNvPr id="2066" name="Straight Connector 2065">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12AE49F-CEDD-B383-B59F-C596E32BCB97}"/>
              </a:ext>
            </a:extLst>
          </p:cNvPr>
          <p:cNvSpPr>
            <a:spLocks noGrp="1"/>
          </p:cNvSpPr>
          <p:nvPr>
            <p:ph idx="1"/>
          </p:nvPr>
        </p:nvSpPr>
        <p:spPr>
          <a:xfrm>
            <a:off x="640080" y="2633236"/>
            <a:ext cx="5737860" cy="3666980"/>
          </a:xfrm>
        </p:spPr>
        <p:txBody>
          <a:bodyPr>
            <a:normAutofit fontScale="62500" lnSpcReduction="20000"/>
          </a:bodyPr>
          <a:lstStyle/>
          <a:p>
            <a:pPr>
              <a:lnSpc>
                <a:spcPct val="110000"/>
              </a:lnSpc>
            </a:pPr>
            <a:r>
              <a:rPr lang="nb-NO" dirty="0"/>
              <a:t>Projects </a:t>
            </a:r>
            <a:r>
              <a:rPr lang="nb-NO" dirty="0" err="1"/>
              <a:t>will</a:t>
            </a:r>
            <a:r>
              <a:rPr lang="nb-NO" dirty="0"/>
              <a:t> be </a:t>
            </a:r>
            <a:r>
              <a:rPr lang="nb-NO" dirty="0" err="1"/>
              <a:t>related</a:t>
            </a:r>
            <a:r>
              <a:rPr lang="nb-NO" dirty="0"/>
              <a:t> to </a:t>
            </a:r>
            <a:r>
              <a:rPr lang="nb-NO" dirty="0" err="1"/>
              <a:t>our</a:t>
            </a:r>
            <a:r>
              <a:rPr lang="nb-NO" dirty="0"/>
              <a:t> masters</a:t>
            </a:r>
          </a:p>
          <a:p>
            <a:pPr>
              <a:lnSpc>
                <a:spcPct val="110000"/>
              </a:lnSpc>
            </a:pPr>
            <a:r>
              <a:rPr lang="nb-NO" dirty="0"/>
              <a:t>Will </a:t>
            </a:r>
            <a:r>
              <a:rPr lang="nb-NO" dirty="0" err="1"/>
              <a:t>divide</a:t>
            </a:r>
            <a:r>
              <a:rPr lang="nb-NO" dirty="0"/>
              <a:t> </a:t>
            </a:r>
            <a:r>
              <a:rPr lang="nb-NO" dirty="0" err="1"/>
              <a:t>into</a:t>
            </a:r>
            <a:r>
              <a:rPr lang="nb-NO" dirty="0"/>
              <a:t> 2 </a:t>
            </a:r>
            <a:r>
              <a:rPr lang="nb-NO" dirty="0" err="1"/>
              <a:t>projects</a:t>
            </a:r>
            <a:endParaRPr lang="nb-NO" dirty="0"/>
          </a:p>
          <a:p>
            <a:pPr>
              <a:lnSpc>
                <a:spcPct val="110000"/>
              </a:lnSpc>
            </a:pPr>
            <a:r>
              <a:rPr lang="nb-NO" dirty="0"/>
              <a:t>Main </a:t>
            </a:r>
            <a:r>
              <a:rPr lang="nb-NO" dirty="0" err="1"/>
              <a:t>project</a:t>
            </a:r>
            <a:r>
              <a:rPr lang="nb-NO" dirty="0"/>
              <a:t> </a:t>
            </a:r>
            <a:r>
              <a:rPr lang="nb-NO" dirty="0" err="1"/>
              <a:t>will</a:t>
            </a:r>
            <a:r>
              <a:rPr lang="nb-NO" dirty="0"/>
              <a:t> be </a:t>
            </a:r>
            <a:r>
              <a:rPr lang="nb-NO" dirty="0" err="1"/>
              <a:t>project</a:t>
            </a:r>
            <a:r>
              <a:rPr lang="nb-NO" dirty="0"/>
              <a:t> 2 – end goal</a:t>
            </a:r>
          </a:p>
          <a:p>
            <a:pPr>
              <a:lnSpc>
                <a:spcPct val="110000"/>
              </a:lnSpc>
            </a:pPr>
            <a:r>
              <a:rPr lang="nb-NO" dirty="0"/>
              <a:t>Project 2: Transformers</a:t>
            </a:r>
          </a:p>
          <a:p>
            <a:pPr>
              <a:lnSpc>
                <a:spcPct val="110000"/>
              </a:lnSpc>
            </a:pPr>
            <a:r>
              <a:rPr lang="en-US" dirty="0"/>
              <a:t>Transformers are neural networks that process data by letting every element “pay attention” to every other element, so they can model context and relationships in parallel rather than step by step. This attention-based design makes them especially powerful and scalable for language, vision, and other sequence-like data like particle track event reconstruction.</a:t>
            </a:r>
            <a:endParaRPr lang="nb-NO" dirty="0"/>
          </a:p>
          <a:p>
            <a:pPr>
              <a:lnSpc>
                <a:spcPct val="110000"/>
              </a:lnSpc>
            </a:pPr>
            <a:r>
              <a:rPr lang="nb-NO" dirty="0"/>
              <a:t>A «hot </a:t>
            </a:r>
            <a:r>
              <a:rPr lang="nb-NO" dirty="0" err="1"/>
              <a:t>topic</a:t>
            </a:r>
            <a:r>
              <a:rPr lang="nb-NO" dirty="0"/>
              <a:t>» </a:t>
            </a:r>
            <a:r>
              <a:rPr lang="nb-NO" dirty="0" err="1"/>
              <a:t>within</a:t>
            </a:r>
            <a:r>
              <a:rPr lang="nb-NO" dirty="0"/>
              <a:t> </a:t>
            </a:r>
            <a:r>
              <a:rPr lang="nb-NO" dirty="0" err="1"/>
              <a:t>particle</a:t>
            </a:r>
            <a:r>
              <a:rPr lang="nb-NO" dirty="0"/>
              <a:t> </a:t>
            </a:r>
            <a:r>
              <a:rPr lang="nb-NO" dirty="0" err="1"/>
              <a:t>physics</a:t>
            </a:r>
            <a:r>
              <a:rPr lang="nb-NO" dirty="0"/>
              <a:t> and CERN</a:t>
            </a:r>
          </a:p>
          <a:p>
            <a:pPr>
              <a:lnSpc>
                <a:spcPct val="110000"/>
              </a:lnSpc>
            </a:pPr>
            <a:r>
              <a:rPr lang="nb-NO" dirty="0"/>
              <a:t>The data </a:t>
            </a:r>
            <a:r>
              <a:rPr lang="nb-NO" dirty="0" err="1"/>
              <a:t>we</a:t>
            </a:r>
            <a:r>
              <a:rPr lang="nb-NO" dirty="0"/>
              <a:t> </a:t>
            </a:r>
            <a:r>
              <a:rPr lang="nb-NO" dirty="0" err="1"/>
              <a:t>will</a:t>
            </a:r>
            <a:r>
              <a:rPr lang="nb-NO" dirty="0"/>
              <a:t> </a:t>
            </a:r>
            <a:r>
              <a:rPr lang="nb-NO" dirty="0" err="1"/>
              <a:t>use</a:t>
            </a:r>
            <a:r>
              <a:rPr lang="nb-NO" dirty="0"/>
              <a:t> </a:t>
            </a:r>
            <a:r>
              <a:rPr lang="nb-NO" dirty="0" err="1"/>
              <a:t>will</a:t>
            </a:r>
            <a:r>
              <a:rPr lang="nb-NO" dirty="0"/>
              <a:t> be from Atlas </a:t>
            </a:r>
            <a:r>
              <a:rPr lang="nb-NO" dirty="0" err="1"/>
              <a:t>open</a:t>
            </a:r>
            <a:r>
              <a:rPr lang="nb-NO" dirty="0"/>
              <a:t> data</a:t>
            </a:r>
          </a:p>
          <a:p>
            <a:pPr>
              <a:lnSpc>
                <a:spcPct val="110000"/>
              </a:lnSpc>
            </a:pPr>
            <a:r>
              <a:rPr lang="nb-NO" dirty="0"/>
              <a:t>Project 1: Steppingstone to Transformers</a:t>
            </a:r>
          </a:p>
          <a:p>
            <a:pPr>
              <a:lnSpc>
                <a:spcPct val="110000"/>
              </a:lnSpc>
            </a:pPr>
            <a:r>
              <a:rPr lang="nb-NO" dirty="0" err="1"/>
              <a:t>Either</a:t>
            </a:r>
            <a:r>
              <a:rPr lang="nb-NO" dirty="0"/>
              <a:t> GNN or RNN to </a:t>
            </a:r>
            <a:r>
              <a:rPr lang="nb-NO" dirty="0" err="1"/>
              <a:t>reconstruct</a:t>
            </a:r>
            <a:r>
              <a:rPr lang="nb-NO" dirty="0"/>
              <a:t> </a:t>
            </a:r>
            <a:r>
              <a:rPr lang="nb-NO" dirty="0" err="1"/>
              <a:t>track</a:t>
            </a:r>
            <a:r>
              <a:rPr lang="nb-NO" dirty="0"/>
              <a:t> </a:t>
            </a:r>
            <a:r>
              <a:rPr lang="nb-NO" dirty="0" err="1"/>
              <a:t>events</a:t>
            </a:r>
            <a:r>
              <a:rPr lang="nb-NO" dirty="0"/>
              <a:t> and </a:t>
            </a:r>
            <a:r>
              <a:rPr lang="nb-NO" dirty="0" err="1"/>
              <a:t>possibly</a:t>
            </a:r>
            <a:r>
              <a:rPr lang="nb-NO" dirty="0"/>
              <a:t> </a:t>
            </a:r>
            <a:r>
              <a:rPr lang="nb-NO" dirty="0" err="1"/>
              <a:t>compare</a:t>
            </a:r>
            <a:r>
              <a:rPr lang="nb-NO" dirty="0"/>
              <a:t> </a:t>
            </a:r>
            <a:r>
              <a:rPr lang="nb-NO" dirty="0" err="1"/>
              <a:t>this</a:t>
            </a:r>
            <a:r>
              <a:rPr lang="nb-NO" dirty="0"/>
              <a:t> to </a:t>
            </a:r>
            <a:r>
              <a:rPr lang="nb-NO" dirty="0" err="1"/>
              <a:t>transformers</a:t>
            </a:r>
            <a:r>
              <a:rPr lang="nb-NO" dirty="0"/>
              <a:t> in </a:t>
            </a:r>
            <a:r>
              <a:rPr lang="nb-NO" dirty="0" err="1"/>
              <a:t>project</a:t>
            </a:r>
            <a:r>
              <a:rPr lang="nb-NO" dirty="0"/>
              <a:t> 2</a:t>
            </a:r>
          </a:p>
          <a:p>
            <a:pPr>
              <a:lnSpc>
                <a:spcPct val="110000"/>
              </a:lnSpc>
            </a:pPr>
            <a:endParaRPr lang="nb-NO" dirty="0"/>
          </a:p>
        </p:txBody>
      </p:sp>
      <p:pic>
        <p:nvPicPr>
          <p:cNvPr id="2050" name="Picture 2" descr="A computer generated image of a machine&#10;&#10;Description automatically generated">
            <a:extLst>
              <a:ext uri="{FF2B5EF4-FFF2-40B4-BE49-F238E27FC236}">
                <a16:creationId xmlns:a16="http://schemas.microsoft.com/office/drawing/2014/main" id="{0D72486F-48A4-17D3-45A4-9C4F699577D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83758" y="385634"/>
            <a:ext cx="6008242" cy="3379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7972169"/>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64</TotalTime>
  <Words>213</Words>
  <Application>Microsoft Office PowerPoint</Application>
  <PresentationFormat>Widescreen</PresentationFormat>
  <Paragraphs>21</Paragraphs>
  <Slides>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Grandview Display</vt:lpstr>
      <vt:lpstr>DashVTI</vt:lpstr>
      <vt:lpstr>Project introduction for FYS5429</vt:lpstr>
      <vt:lpstr>Background and motivation</vt:lpstr>
      <vt:lpstr>Projects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introduction for FYS5429</dc:title>
  <dc:creator>Maximilian</dc:creator>
  <cp:lastModifiedBy>Maximilian Engenes</cp:lastModifiedBy>
  <cp:revision>1</cp:revision>
  <dcterms:created xsi:type="dcterms:W3CDTF">2026-01-28T21:04:47Z</dcterms:created>
  <dcterms:modified xsi:type="dcterms:W3CDTF">2026-01-29T09:57:06Z</dcterms:modified>
</cp:coreProperties>
</file>